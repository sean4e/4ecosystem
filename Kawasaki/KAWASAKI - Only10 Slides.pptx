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P Pangram Sans" charset="1" panose="00000500000000000000"/>
      <p:regular r:id="rId18"/>
    </p:embeddedFont>
    <p:embeddedFont>
      <p:font typeface="Open Sauce SemiBold" charset="1" panose="00000700000000000000"/>
      <p:regular r:id="rId19"/>
    </p:embeddedFont>
    <p:embeddedFont>
      <p:font typeface="Open Sans" charset="1" panose="020B06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06321" y="-472825"/>
            <a:ext cx="13847655" cy="4171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42"/>
              </a:lnSpc>
            </a:pPr>
            <a:r>
              <a:rPr lang="en-US" sz="23101">
                <a:solidFill>
                  <a:srgbClr val="FFFFFF"/>
                </a:solidFill>
                <a:latin typeface="PP Pangram Sans"/>
                <a:ea typeface="PP Pangram Sans"/>
                <a:cs typeface="PP Pangram Sans"/>
                <a:sym typeface="PP Pangram Sans"/>
              </a:rPr>
              <a:t>ONLY </a:t>
            </a:r>
            <a:r>
              <a:rPr lang="en-US" sz="23101">
                <a:solidFill>
                  <a:srgbClr val="00C4CC"/>
                </a:solidFill>
                <a:latin typeface="PP Pangram Sans"/>
                <a:ea typeface="PP Pangram Sans"/>
                <a:cs typeface="PP Pangram Sans"/>
                <a:sym typeface="PP Pangram Sans"/>
              </a:rPr>
              <a:t>10</a:t>
            </a:r>
            <a:r>
              <a:rPr lang="en-US" sz="23101">
                <a:solidFill>
                  <a:srgbClr val="FFFFFF"/>
                </a:solidFill>
                <a:latin typeface="PP Pangram Sans"/>
                <a:ea typeface="PP Pangram Sans"/>
                <a:cs typeface="PP Pangram Sans"/>
                <a:sym typeface="PP Pangram Sans"/>
              </a:rPr>
              <a:t> SLIDES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33235" y="2919226"/>
            <a:ext cx="5237258" cy="4171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42"/>
              </a:lnSpc>
            </a:pPr>
            <a:r>
              <a:rPr lang="en-US" sz="23101">
                <a:solidFill>
                  <a:srgbClr val="FFFFFF"/>
                </a:solidFill>
                <a:latin typeface="PP Pangram Sans"/>
                <a:ea typeface="PP Pangram Sans"/>
                <a:cs typeface="PP Pangram Sans"/>
                <a:sym typeface="PP Pangram Sans"/>
              </a:rPr>
              <a:t>PITCH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0" y="7034278"/>
            <a:ext cx="18288000" cy="0"/>
          </a:xfrm>
          <a:prstGeom prst="line">
            <a:avLst/>
          </a:prstGeom>
          <a:ln cap="flat" w="47625">
            <a:solidFill>
              <a:srgbClr val="00C4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-5400000">
            <a:off x="7493826" y="8636826"/>
            <a:ext cx="3252722" cy="0"/>
          </a:xfrm>
          <a:prstGeom prst="line">
            <a:avLst/>
          </a:prstGeom>
          <a:ln cap="flat" w="47625">
            <a:solidFill>
              <a:srgbClr val="00C4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394857" y="2987995"/>
            <a:ext cx="6893143" cy="4046283"/>
          </a:xfrm>
          <a:custGeom>
            <a:avLst/>
            <a:gdLst/>
            <a:ahLst/>
            <a:cxnLst/>
            <a:rect r="r" b="b" t="t" l="l"/>
            <a:pathLst>
              <a:path h="4046283" w="6893143">
                <a:moveTo>
                  <a:pt x="0" y="0"/>
                </a:moveTo>
                <a:lnTo>
                  <a:pt x="6893143" y="0"/>
                </a:lnTo>
                <a:lnTo>
                  <a:pt x="6893143" y="4046283"/>
                </a:lnTo>
                <a:lnTo>
                  <a:pt x="0" y="40462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8765" t="-89033" r="-35" b="-9259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5400000">
            <a:off x="305602" y="775450"/>
            <a:ext cx="2975668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 spc="2880">
                <a:solidFill>
                  <a:srgbClr val="FFFFFF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THE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91506" y="3085128"/>
            <a:ext cx="8761176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 spc="2880">
                <a:solidFill>
                  <a:srgbClr val="FFFFFF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YOU NEED IN 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85610" y="680493"/>
            <a:ext cx="900540" cy="2128694"/>
            <a:chOff x="0" y="0"/>
            <a:chExt cx="1200720" cy="2838259"/>
          </a:xfrm>
        </p:grpSpPr>
        <p:sp>
          <p:nvSpPr>
            <p:cNvPr name="AutoShape 10" id="10"/>
            <p:cNvSpPr/>
            <p:nvPr/>
          </p:nvSpPr>
          <p:spPr>
            <a:xfrm rot="0">
              <a:off x="7620" y="2769679"/>
              <a:ext cx="1137220" cy="0"/>
            </a:xfrm>
            <a:prstGeom prst="line">
              <a:avLst/>
            </a:prstGeom>
            <a:ln cap="flat" w="63500">
              <a:solidFill>
                <a:srgbClr val="00C4C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rot="0">
              <a:off x="0" y="0"/>
              <a:ext cx="1137220" cy="0"/>
            </a:xfrm>
            <a:prstGeom prst="line">
              <a:avLst/>
            </a:prstGeom>
            <a:ln cap="flat" w="63500">
              <a:solidFill>
                <a:srgbClr val="00C4C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 rot="5400000">
              <a:off x="-250159" y="1387379"/>
              <a:ext cx="2838259" cy="0"/>
            </a:xfrm>
            <a:prstGeom prst="line">
              <a:avLst/>
            </a:prstGeom>
            <a:ln cap="flat" w="63500">
              <a:solidFill>
                <a:srgbClr val="00C4C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 rot="5400000">
              <a:off x="-1379759" y="1387379"/>
              <a:ext cx="2838259" cy="0"/>
            </a:xfrm>
            <a:prstGeom prst="line">
              <a:avLst/>
            </a:prstGeom>
            <a:ln cap="flat" w="63500">
              <a:solidFill>
                <a:srgbClr val="00C4CC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14" id="14"/>
          <p:cNvSpPr/>
          <p:nvPr/>
        </p:nvSpPr>
        <p:spPr>
          <a:xfrm rot="5400000">
            <a:off x="986775" y="3373735"/>
            <a:ext cx="852915" cy="0"/>
          </a:xfrm>
          <a:prstGeom prst="line">
            <a:avLst/>
          </a:prstGeom>
          <a:ln cap="flat" w="47625">
            <a:solidFill>
              <a:srgbClr val="00C4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5400000">
            <a:off x="9198134" y="3368020"/>
            <a:ext cx="852915" cy="0"/>
          </a:xfrm>
          <a:prstGeom prst="line">
            <a:avLst/>
          </a:prstGeom>
          <a:ln cap="flat" w="47625">
            <a:solidFill>
              <a:srgbClr val="00C4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-10800000">
            <a:off x="1385610" y="3818290"/>
            <a:ext cx="8262794" cy="0"/>
          </a:xfrm>
          <a:prstGeom prst="line">
            <a:avLst/>
          </a:prstGeom>
          <a:ln cap="flat" w="47625">
            <a:solidFill>
              <a:srgbClr val="00C4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-10800000">
            <a:off x="1385610" y="2971090"/>
            <a:ext cx="8262794" cy="0"/>
          </a:xfrm>
          <a:prstGeom prst="line">
            <a:avLst/>
          </a:prstGeom>
          <a:ln cap="flat" w="47625">
            <a:solidFill>
              <a:srgbClr val="00C4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433235" y="7658495"/>
            <a:ext cx="5968901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purpose of a pitch is to stimulate interest,</a:t>
            </a:r>
          </a:p>
          <a:p>
            <a:pPr algn="l">
              <a:lnSpc>
                <a:spcPts val="3079"/>
              </a:lnSpc>
            </a:pPr>
            <a:r>
              <a:rPr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not to cover every aspect of your startup and</a:t>
            </a:r>
          </a:p>
          <a:p>
            <a:pPr algn="l">
              <a:lnSpc>
                <a:spcPts val="3079"/>
              </a:lnSpc>
            </a:pPr>
            <a:r>
              <a:rPr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bludgeon your audience into submission.</a:t>
            </a:r>
          </a:p>
          <a:p>
            <a:pPr algn="l">
              <a:lnSpc>
                <a:spcPts val="3079"/>
              </a:lnSpc>
            </a:pPr>
            <a:r>
              <a:rPr lang="en-US" sz="2200">
                <a:solidFill>
                  <a:srgbClr val="00C4CC"/>
                </a:solidFill>
                <a:latin typeface="Open Sans"/>
                <a:ea typeface="Open Sans"/>
                <a:cs typeface="Open Sans"/>
                <a:sym typeface="Open Sans"/>
              </a:rPr>
              <a:t>your objective is to generate enough interest</a:t>
            </a:r>
          </a:p>
          <a:p>
            <a:pPr algn="l">
              <a:lnSpc>
                <a:spcPts val="3079"/>
              </a:lnSpc>
            </a:pPr>
            <a:r>
              <a:rPr lang="en-US" sz="2200">
                <a:solidFill>
                  <a:srgbClr val="00C4CC"/>
                </a:solidFill>
                <a:latin typeface="Open Sans"/>
                <a:ea typeface="Open Sans"/>
                <a:cs typeface="Open Sans"/>
                <a:sym typeface="Open Sans"/>
              </a:rPr>
              <a:t>to get a second meeting.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95879" y="7658495"/>
            <a:ext cx="7290941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Thus, the recommended number of slides for a pitch 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is ten. This impossibly low number forces you to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concentrate on the absolute essentials. You can add a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few more, but you should never exceed fifteen slides --</a:t>
            </a:r>
          </a:p>
          <a:p>
            <a:pPr algn="l">
              <a:lnSpc>
                <a:spcPts val="3079"/>
              </a:lnSpc>
            </a:pPr>
            <a:r>
              <a:rPr lang="en-US" sz="2200">
                <a:solidFill>
                  <a:srgbClr val="00C4CC"/>
                </a:solidFill>
                <a:latin typeface="Open Sans"/>
                <a:ea typeface="Open Sans"/>
                <a:cs typeface="Open Sans"/>
                <a:sym typeface="Open Sans"/>
              </a:rPr>
              <a:t>the more slides you need, the less compelling your idea.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385610" y="4081528"/>
            <a:ext cx="15638082" cy="0"/>
          </a:xfrm>
          <a:prstGeom prst="line">
            <a:avLst/>
          </a:prstGeom>
          <a:ln cap="flat" w="47625">
            <a:solidFill>
              <a:srgbClr val="00C4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385610" y="1495425"/>
            <a:ext cx="2632438" cy="232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68"/>
              </a:lnSpc>
            </a:pPr>
            <a:r>
              <a:rPr lang="en-US" sz="12834">
                <a:solidFill>
                  <a:srgbClr val="00C4CC"/>
                </a:solidFill>
                <a:latin typeface="PP Pangram Sans"/>
                <a:ea typeface="PP Pangram Sans"/>
                <a:cs typeface="PP Pangram Sans"/>
                <a:sym typeface="PP Pangram Sans"/>
              </a:rPr>
              <a:t>TITLE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5610" y="4761230"/>
            <a:ext cx="10467172" cy="1254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Provide company name plus your name and title,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address, email, and cell number.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385610" y="4081528"/>
            <a:ext cx="15638082" cy="0"/>
          </a:xfrm>
          <a:prstGeom prst="line">
            <a:avLst/>
          </a:prstGeom>
          <a:ln cap="flat" w="47625">
            <a:solidFill>
              <a:srgbClr val="00C4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385610" y="1495425"/>
            <a:ext cx="12928408" cy="232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8"/>
              </a:lnSpc>
            </a:pPr>
            <a:r>
              <a:rPr lang="en-US" sz="12834">
                <a:solidFill>
                  <a:srgbClr val="00C4CC"/>
                </a:solidFill>
                <a:latin typeface="PP Pangram Sans"/>
                <a:ea typeface="PP Pangram Sans"/>
                <a:cs typeface="PP Pangram Sans"/>
                <a:sym typeface="PP Pangram Sans"/>
              </a:rPr>
              <a:t>PROBLEM/OPPORTUNITY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5610" y="4894781"/>
            <a:ext cx="15565934" cy="125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Describe the pain that you‘re alleviating or the </a:t>
            </a:r>
            <a:r>
              <a:rPr lang="en-US" sz="3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pleasure you‘re providing. 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goal is to change the pulse rate of the investors.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385610" y="4081528"/>
            <a:ext cx="15638082" cy="0"/>
          </a:xfrm>
          <a:prstGeom prst="line">
            <a:avLst/>
          </a:prstGeom>
          <a:ln cap="flat" w="47625">
            <a:solidFill>
              <a:srgbClr val="00C4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385610" y="1495425"/>
            <a:ext cx="12928408" cy="232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8"/>
              </a:lnSpc>
            </a:pPr>
            <a:r>
              <a:rPr lang="en-US" sz="12834">
                <a:solidFill>
                  <a:srgbClr val="00C4CC"/>
                </a:solidFill>
                <a:latin typeface="PP Pangram Sans"/>
                <a:ea typeface="PP Pangram Sans"/>
                <a:cs typeface="PP Pangram Sans"/>
                <a:sym typeface="PP Pangram Sans"/>
              </a:rPr>
              <a:t>VALUE PROPOSITION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5610" y="4761230"/>
            <a:ext cx="12149518" cy="1254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Explain the value of the pain you alleviate or </a:t>
            </a: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value of 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pleasure you provide.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385610" y="4081528"/>
            <a:ext cx="15638082" cy="0"/>
          </a:xfrm>
          <a:prstGeom prst="line">
            <a:avLst/>
          </a:prstGeom>
          <a:ln cap="flat" w="47625">
            <a:solidFill>
              <a:srgbClr val="00C4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385610" y="1495425"/>
            <a:ext cx="12928408" cy="232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8"/>
              </a:lnSpc>
            </a:pPr>
            <a:r>
              <a:rPr lang="en-US" sz="12834">
                <a:solidFill>
                  <a:srgbClr val="00C4CC"/>
                </a:solidFill>
                <a:latin typeface="PP Pangram Sans"/>
                <a:ea typeface="PP Pangram Sans"/>
                <a:cs typeface="PP Pangram Sans"/>
                <a:sym typeface="PP Pangram Sans"/>
              </a:rPr>
              <a:t>UNDERLYING MAGIC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5610" y="4761230"/>
            <a:ext cx="11722043" cy="3814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Describe the technology, secret sauce, or magic behind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your product. The less text and the more diagrams,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schematics, and flowcharts the better. If you have a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prototype or demo, this is the time to transition to it.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“If a picture is worth 1000 words, a prototype is worth 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1,000 pictures.”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385610" y="4081528"/>
            <a:ext cx="15638082" cy="0"/>
          </a:xfrm>
          <a:prstGeom prst="line">
            <a:avLst/>
          </a:prstGeom>
          <a:ln cap="flat" w="47625">
            <a:solidFill>
              <a:srgbClr val="00C4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385610" y="4761230"/>
            <a:ext cx="10493996" cy="1254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Explain who has your money temporarily in their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pockets and how you're going to get it into yours.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5610" y="1495425"/>
            <a:ext cx="12928408" cy="232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8"/>
              </a:lnSpc>
            </a:pPr>
            <a:r>
              <a:rPr lang="en-US" sz="12834">
                <a:solidFill>
                  <a:srgbClr val="00C4CC"/>
                </a:solidFill>
                <a:latin typeface="PP Pangram Sans"/>
                <a:ea typeface="PP Pangram Sans"/>
                <a:cs typeface="PP Pangram Sans"/>
                <a:sym typeface="PP Pangram Sans"/>
              </a:rPr>
              <a:t>BUSINESS MODEL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385610" y="4081528"/>
            <a:ext cx="15638082" cy="0"/>
          </a:xfrm>
          <a:prstGeom prst="line">
            <a:avLst/>
          </a:prstGeom>
          <a:ln cap="flat" w="47625">
            <a:solidFill>
              <a:srgbClr val="00C4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385610" y="4761230"/>
            <a:ext cx="10179425" cy="1894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Explain how you are going to reach your 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customer without breaking the bank. “Go viral,” 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btw, is total bullshit.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5610" y="1495425"/>
            <a:ext cx="12928408" cy="232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8"/>
              </a:lnSpc>
            </a:pPr>
            <a:r>
              <a:rPr lang="en-US" sz="12834">
                <a:solidFill>
                  <a:srgbClr val="00C4CC"/>
                </a:solidFill>
                <a:latin typeface="PP Pangram Sans"/>
                <a:ea typeface="PP Pangram Sans"/>
                <a:cs typeface="PP Pangram Sans"/>
                <a:sym typeface="PP Pangram Sans"/>
              </a:rPr>
              <a:t>GO-TO-MARKET PLAN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385610" y="4081528"/>
            <a:ext cx="15638082" cy="0"/>
          </a:xfrm>
          <a:prstGeom prst="line">
            <a:avLst/>
          </a:prstGeom>
          <a:ln cap="flat" w="47625">
            <a:solidFill>
              <a:srgbClr val="00C4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385610" y="4761230"/>
            <a:ext cx="11227995" cy="1894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Provide a complete view of the competitive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landscape. And saying that you‘re “more passionate”’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is utterly meaningless.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5610" y="1495425"/>
            <a:ext cx="12928408" cy="232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8"/>
              </a:lnSpc>
            </a:pPr>
            <a:r>
              <a:rPr lang="en-US" sz="12834">
                <a:solidFill>
                  <a:srgbClr val="00C4CC"/>
                </a:solidFill>
                <a:latin typeface="PP Pangram Sans"/>
                <a:ea typeface="PP Pangram Sans"/>
                <a:cs typeface="PP Pangram Sans"/>
                <a:sym typeface="PP Pangram Sans"/>
              </a:rPr>
              <a:t>COMPETITIVE ANALYSIS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385610" y="4081528"/>
            <a:ext cx="15638082" cy="0"/>
          </a:xfrm>
          <a:prstGeom prst="line">
            <a:avLst/>
          </a:prstGeom>
          <a:ln cap="flat" w="47625">
            <a:solidFill>
              <a:srgbClr val="00C4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385610" y="4761230"/>
            <a:ext cx="11643278" cy="317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Describe the key members of your management team,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board of directors, and board of advisors as well as 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your major investors. It‘s okay if you have less than a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perfect team. If your team was perfect, you wouldn‘t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 pitching.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5610" y="1495425"/>
            <a:ext cx="12928408" cy="232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8"/>
              </a:lnSpc>
            </a:pPr>
            <a:r>
              <a:rPr lang="en-US" sz="12834">
                <a:solidFill>
                  <a:srgbClr val="00C4CC"/>
                </a:solidFill>
                <a:latin typeface="PP Pangram Sans"/>
                <a:ea typeface="PP Pangram Sans"/>
                <a:cs typeface="PP Pangram Sans"/>
                <a:sym typeface="PP Pangram Sans"/>
              </a:rPr>
              <a:t>MANAGEMENT TEAM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385610" y="4081528"/>
            <a:ext cx="15638082" cy="0"/>
          </a:xfrm>
          <a:prstGeom prst="line">
            <a:avLst/>
          </a:prstGeom>
          <a:ln cap="flat" w="47625">
            <a:solidFill>
              <a:srgbClr val="00C4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385610" y="4761230"/>
            <a:ext cx="10481316" cy="4454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Provide a three-year forecast containing not only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dollars but key metrics such as the number of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customers and conversion rate. Do a bottom-up, 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not top-down, analysis. You are not going to get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 percent of the people in China... </a:t>
            </a:r>
          </a:p>
          <a:p>
            <a:pPr algn="l">
              <a:lnSpc>
                <a:spcPts val="5046"/>
              </a:lnSpc>
            </a:pPr>
          </a:p>
          <a:p>
            <a:pPr algn="l">
              <a:lnSpc>
                <a:spcPts val="504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385610" y="1042443"/>
            <a:ext cx="12928408" cy="299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81"/>
              </a:lnSpc>
            </a:pPr>
            <a:r>
              <a:rPr lang="en-US" sz="12834">
                <a:solidFill>
                  <a:srgbClr val="00C4CC"/>
                </a:solidFill>
                <a:latin typeface="PP Pangram Sans"/>
                <a:ea typeface="PP Pangram Sans"/>
                <a:cs typeface="PP Pangram Sans"/>
                <a:sym typeface="PP Pangram Sans"/>
              </a:rPr>
              <a:t>FINANCIAL PROJECTIONS</a:t>
            </a:r>
          </a:p>
          <a:p>
            <a:pPr algn="l">
              <a:lnSpc>
                <a:spcPts val="10781"/>
              </a:lnSpc>
            </a:pPr>
            <a:r>
              <a:rPr lang="en-US" sz="12834">
                <a:solidFill>
                  <a:srgbClr val="00C4CC"/>
                </a:solidFill>
                <a:latin typeface="PP Pangram Sans"/>
                <a:ea typeface="PP Pangram Sans"/>
                <a:cs typeface="PP Pangram Sans"/>
                <a:sym typeface="PP Pangram Sans"/>
              </a:rPr>
              <a:t>AND KEY METRICS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385610" y="5658375"/>
            <a:ext cx="15638082" cy="0"/>
          </a:xfrm>
          <a:prstGeom prst="line">
            <a:avLst/>
          </a:prstGeom>
          <a:ln cap="flat" w="47625">
            <a:solidFill>
              <a:srgbClr val="00C4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385610" y="6338077"/>
            <a:ext cx="11414300" cy="1894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Explain the current status of your product, what the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next version looks like, and how you’ll use the money </a:t>
            </a:r>
          </a:p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you’re trying to raise.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5610" y="1042443"/>
            <a:ext cx="14865187" cy="435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81"/>
              </a:lnSpc>
            </a:pPr>
            <a:r>
              <a:rPr lang="en-US" sz="12834">
                <a:solidFill>
                  <a:srgbClr val="00C4CC"/>
                </a:solidFill>
                <a:latin typeface="PP Pangram Sans"/>
                <a:ea typeface="PP Pangram Sans"/>
                <a:cs typeface="PP Pangram Sans"/>
                <a:sym typeface="PP Pangram Sans"/>
              </a:rPr>
              <a:t>CURRENT STATUS,</a:t>
            </a:r>
          </a:p>
          <a:p>
            <a:pPr algn="l">
              <a:lnSpc>
                <a:spcPts val="10781"/>
              </a:lnSpc>
            </a:pPr>
            <a:r>
              <a:rPr lang="en-US" sz="12834">
                <a:solidFill>
                  <a:srgbClr val="00C4CC"/>
                </a:solidFill>
                <a:latin typeface="PP Pangram Sans"/>
                <a:ea typeface="PP Pangram Sans"/>
                <a:cs typeface="PP Pangram Sans"/>
                <a:sym typeface="PP Pangram Sans"/>
              </a:rPr>
              <a:t>ACCOMPLISHMENTS TO DATE</a:t>
            </a:r>
          </a:p>
          <a:p>
            <a:pPr algn="l">
              <a:lnSpc>
                <a:spcPts val="10781"/>
              </a:lnSpc>
            </a:pPr>
            <a:r>
              <a:rPr lang="en-US" sz="12834">
                <a:solidFill>
                  <a:srgbClr val="00C4CC"/>
                </a:solidFill>
                <a:latin typeface="PP Pangram Sans"/>
                <a:ea typeface="PP Pangram Sans"/>
                <a:cs typeface="PP Pangram Sans"/>
                <a:sym typeface="PP Pangram Sans"/>
              </a:rPr>
              <a:t>TIMELINE, AND USE OF FUNDS.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0493" y="2794485"/>
            <a:ext cx="16927014" cy="3635372"/>
            <a:chOff x="0" y="0"/>
            <a:chExt cx="5725928" cy="12297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25928" cy="1229743"/>
            </a:xfrm>
            <a:custGeom>
              <a:avLst/>
              <a:gdLst/>
              <a:ahLst/>
              <a:cxnLst/>
              <a:rect r="r" b="b" t="t" l="l"/>
              <a:pathLst>
                <a:path h="1229743" w="5725928">
                  <a:moveTo>
                    <a:pt x="0" y="0"/>
                  </a:moveTo>
                  <a:lnTo>
                    <a:pt x="5725928" y="0"/>
                  </a:lnTo>
                  <a:lnTo>
                    <a:pt x="5725928" y="1229743"/>
                  </a:lnTo>
                  <a:lnTo>
                    <a:pt x="0" y="1229743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72546" y="3572735"/>
            <a:ext cx="14142908" cy="2031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6"/>
              </a:lnSpc>
            </a:pPr>
            <a:r>
              <a:rPr lang="en-US" sz="29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word about liquidity: no entrepreneur knows when, how, or if she will achieve liquidity, and yet many include a slide that says, “There are two liquidity options: an IPO or an acquisition.” Duh. If investors ask about your exit strategy, it means they are clueless. if you answer with these two options, you have a lot in common.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DAEhUeYe_fo</dc:identifier>
  <dcterms:modified xsi:type="dcterms:W3CDTF">2011-08-01T06:04:30Z</dcterms:modified>
  <cp:revision>1</cp:revision>
  <dc:title>Only10 Slides</dc:title>
</cp:coreProperties>
</file>